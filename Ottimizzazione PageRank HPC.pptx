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6858000" cx="12192000"/>
  <p:notesSz cx="6858000" cy="9144000"/>
  <p:embeddedFontLst>
    <p:embeddedFont>
      <p:font typeface="Roboto"/>
      <p:regular r:id="rId52"/>
      <p:bold r:id="rId53"/>
      <p:italic r:id="rId54"/>
      <p:boldItalic r:id="rId55"/>
    </p:embeddedFont>
    <p:embeddedFont>
      <p:font typeface="Urbanist Medium"/>
      <p:regular r:id="rId56"/>
      <p:bold r:id="rId57"/>
      <p:italic r:id="rId58"/>
      <p:boldItalic r:id="rId59"/>
    </p:embeddedFont>
    <p:embeddedFont>
      <p:font typeface="Urbanist"/>
      <p:regular r:id="rId60"/>
      <p:bold r:id="rId61"/>
      <p:italic r:id="rId62"/>
      <p:boldItalic r:id="rId63"/>
    </p:embeddedFont>
    <p:embeddedFont>
      <p:font typeface="Roboto Mono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03A096-27C8-43EC-AC49-53E414F85B7F}">
  <a:tblStyle styleId="{D103A096-27C8-43EC-AC49-53E414F85B7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Urbanist-italic.fntdata"/><Relationship Id="rId61" Type="http://schemas.openxmlformats.org/officeDocument/2006/relationships/font" Target="fonts/Urbanist-bold.fntdata"/><Relationship Id="rId20" Type="http://schemas.openxmlformats.org/officeDocument/2006/relationships/slide" Target="slides/slide14.xml"/><Relationship Id="rId64" Type="http://schemas.openxmlformats.org/officeDocument/2006/relationships/font" Target="fonts/RobotoMono-regular.fntdata"/><Relationship Id="rId63" Type="http://schemas.openxmlformats.org/officeDocument/2006/relationships/font" Target="fonts/Urbanist-boldItalic.fntdata"/><Relationship Id="rId22" Type="http://schemas.openxmlformats.org/officeDocument/2006/relationships/slide" Target="slides/slide16.xml"/><Relationship Id="rId66" Type="http://schemas.openxmlformats.org/officeDocument/2006/relationships/font" Target="fonts/RobotoMono-italic.fntdata"/><Relationship Id="rId21" Type="http://schemas.openxmlformats.org/officeDocument/2006/relationships/slide" Target="slides/slide15.xml"/><Relationship Id="rId65" Type="http://schemas.openxmlformats.org/officeDocument/2006/relationships/font" Target="fonts/RobotoMono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7" Type="http://schemas.openxmlformats.org/officeDocument/2006/relationships/font" Target="fonts/RobotoMono-boldItalic.fntdata"/><Relationship Id="rId60" Type="http://schemas.openxmlformats.org/officeDocument/2006/relationships/font" Target="fonts/Urbanist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11" Type="http://schemas.openxmlformats.org/officeDocument/2006/relationships/slide" Target="slides/slide5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4.xml"/><Relationship Id="rId54" Type="http://schemas.openxmlformats.org/officeDocument/2006/relationships/font" Target="fonts/Roboto-italic.fntdata"/><Relationship Id="rId13" Type="http://schemas.openxmlformats.org/officeDocument/2006/relationships/slide" Target="slides/slide7.xml"/><Relationship Id="rId57" Type="http://schemas.openxmlformats.org/officeDocument/2006/relationships/font" Target="fonts/UrbanistMedium-bold.fntdata"/><Relationship Id="rId12" Type="http://schemas.openxmlformats.org/officeDocument/2006/relationships/slide" Target="slides/slide6.xml"/><Relationship Id="rId56" Type="http://schemas.openxmlformats.org/officeDocument/2006/relationships/font" Target="fonts/UrbanistMedium-regular.fntdata"/><Relationship Id="rId15" Type="http://schemas.openxmlformats.org/officeDocument/2006/relationships/slide" Target="slides/slide9.xml"/><Relationship Id="rId59" Type="http://schemas.openxmlformats.org/officeDocument/2006/relationships/font" Target="fonts/UrbanistMedium-boldItalic.fntdata"/><Relationship Id="rId14" Type="http://schemas.openxmlformats.org/officeDocument/2006/relationships/slide" Target="slides/slide8.xml"/><Relationship Id="rId58" Type="http://schemas.openxmlformats.org/officeDocument/2006/relationships/font" Target="fonts/UrbanistMedium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409a7734964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409a7734964_2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409a6a4d2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409a6a4d20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409a6a4d20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409a6a4d200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09a6a4d20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409a6a4d200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4b31b1f5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f4b31b1f55_0_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409a447a1e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409a447a1e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409a447a1e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409a447a1ec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409a447a1e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Allocazione e deallocazione unificate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Una sola calloc e una sola free invece di due, riducendo l’overhead di gestione della memoria.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Migliore località della cache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rowptr e out_degree sono adiacenti in memoria e vengono spesso consultati insieme (SpMV e calcolo dangling mass): meno cache miss e accessi più rapidi.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chemeClr val="dk1"/>
                </a:solidFill>
              </a:rPr>
              <a:t>Minore frammentazione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</a:rPr>
              <a:t>Un unico blocco contiguo evita di disperdere i metadati in aree separate dell’heap.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55" name="Google Shape;155;g409a447a1ec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409a447a1e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●"/>
            </a:pPr>
            <a:r>
              <a:rPr lang="en-US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Nessuna fase sequenziale: ogni processo lavora senza dover attendere il MASTER</a:t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●"/>
            </a:pPr>
            <a:r>
              <a:rPr lang="en-US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Dangling Mass e Norma calcolare il parallelo senza MASTER</a:t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●"/>
            </a:pPr>
            <a:r>
              <a:rPr lang="en-US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Carico computazionale distribuito tra i processi </a:t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●"/>
            </a:pPr>
            <a:r>
              <a:rPr lang="en-US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Scalabilità migliorata</a:t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11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Urbanist"/>
              <a:buChar char="●"/>
            </a:pPr>
            <a:r>
              <a:rPr lang="en-US" sz="13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Minor numero di primitive di comunicazione MPI</a:t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67" name="Google Shape;167;g409a447a1ec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09a447a1e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Accorpamento della </a:t>
            </a:r>
            <a:r>
              <a:rPr b="1" i="1" lang="en-US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norma locale</a:t>
            </a:r>
            <a:r>
              <a:rPr lang="en-US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e della </a:t>
            </a:r>
            <a:r>
              <a:rPr b="1" i="1" lang="en-US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dangling mass locale</a:t>
            </a:r>
            <a:r>
              <a:rPr lang="en-US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in un unico array di due double, inviati insieme con una sola </a:t>
            </a:r>
            <a:r>
              <a:rPr b="1" i="1" lang="en-US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MPI_Allreduce</a:t>
            </a:r>
            <a:r>
              <a:rPr lang="en-US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Rimozione della </a:t>
            </a:r>
            <a:r>
              <a:rPr b="1" i="1" lang="en-US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MPI_Bcast.</a:t>
            </a:r>
            <a:endParaRPr b="1" i="1"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238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Urbanist"/>
              <a:buChar char="●"/>
            </a:pPr>
            <a:r>
              <a:rPr lang="en-US" sz="15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Riduzione del numero di sincronizzazioni MPI da 3 ad 2 per iterazione.</a:t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79" name="Google Shape;179;g409a447a1ec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409a447a1ec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93" name="Google Shape;193;g409a447a1ec_1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409a447a1ec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00" name="Google Shape;200;g409a447a1ec_1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409a447a1e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07" name="Google Shape;207;g409a447a1ec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409a447a1ec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14" name="Google Shape;214;g409a447a1ec_1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Riduzione del numero di processi MPI</a:t>
            </a:r>
            <a:b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Meno processi MPI significa meno comunicazioni e meno messaggi di sincronizzazione, diminuendo il tempo speso nelle collettive (</a:t>
            </a: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Allreduce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Allgatherv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Sfruttamento della memoria condivisa all'interno del nodo</a:t>
            </a:r>
            <a:b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 thread condividono lo stesso spazio di indirizzamento: si evitano copie e scatter di dati già presenti, e l'accesso ai vettori PageRank e alla porzione locale di matrice è diretto e senza duplicazioni.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Migliore scalabilità sui nodi many‑core</a:t>
            </a:r>
            <a:b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 un singolo nodo con tanti core, usare un solo processo MPI con molti thread OpenMP è più efficiente che lanciare decine di processi MPI che moltiplicherebbero il traffico di rete interno al nodo stesso.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Cache e memoria ottimizzate</a:t>
            </a:r>
            <a:b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 thread condividono la cache L3 e la banda di memoria del nodo, riducendo il costo di accesso a strutture dati condivise come </a:t>
            </a: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prold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prnew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 i metadati (</a:t>
            </a: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rowptr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out_degree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Bilanciamento di carico dinamico</a:t>
            </a:r>
            <a:b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 </a:t>
            </a: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schedule(guided)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si compensano le differenze di densità delle righe della matrice, impossibili da gestire a livello MPI con partizionamento statico.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0" name="Google Shape;2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8" name="Google Shape;23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409a447a1ec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6" name="Google Shape;246;g409a447a1ec_1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409a447a1ec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54" name="Google Shape;254;g409a447a1ec_1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409a447a1ec_1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Cos'è il First‑Touch?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Nei sistemi NUMA, la memoria virtuale (pagine) viene allocata fisicamente sul nodo (socket) del primo thread che la scrive.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allochi un array con </a:t>
            </a: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malloc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 poi lo inizializzi in parallelo, ciascuna pagina "appartiene" al nodo NUMA del thread che l'ha toccata per primo.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Cosa succede durante la computazione?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Durante il PageRank, i thread leggono e scrivono sugli stessi array (</a:t>
            </a: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prold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prnew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un thread accede a una pagina che risiede su un nodo NUMA diverso (accesso remoto), la latenza e la banda sono peggiori rispetto a un accesso locale.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Il ruolo dello scheduling dei loop OpenMP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schedule(static)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ogni thread riceve un blocco contiguo e deterministico di iterazioni. Ad esempio, con 4 thread e 1000 righe, il thread 0 esegue sempre le righe 0‑249, il thread 1 le righe 250‑499, e così via.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schedule(guided)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(o dynamic): le iterazioni vengono assegnate dinamicamente a thread qualsiasi, man mano che questi si liberano. Non c'è garanzia che un thread elabori le stesse righe a ogni iterazione.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4. Perché </a:t>
            </a:r>
            <a:r>
              <a:rPr lang="en-US" sz="1050">
                <a:solidFill>
                  <a:srgbClr val="F9FAF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static</a:t>
            </a:r>
            <a:r>
              <a:rPr lang="en-US" sz="12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preserva l'affinità NUMA?</a:t>
            </a:r>
            <a:endParaRPr sz="12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Con il First‑Touch, le pagine delle righe 0‑249 sono state allocate fisicamente sul nodo NUMA del thread 0.</a:t>
            </a:r>
            <a:endParaRPr sz="12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Se poi usi </a:t>
            </a:r>
            <a:r>
              <a:rPr lang="en-US" sz="1050">
                <a:solidFill>
                  <a:srgbClr val="F9FAF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schedule(static)</a:t>
            </a:r>
            <a:r>
              <a:rPr lang="en-US" sz="12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, il thread 0 continua a elaborare proprio quelle righe a ogni iterazione del PageRank.</a:t>
            </a:r>
            <a:endParaRPr sz="12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L'accesso ai dati sarà quindi sempre locale → massima efficienza della memoria.</a:t>
            </a:r>
            <a:endParaRPr sz="12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5. Cosa accadrebbe con </a:t>
            </a:r>
            <a:r>
              <a:rPr lang="en-US" sz="1050">
                <a:solidFill>
                  <a:srgbClr val="F9FAFB"/>
                </a:solidFill>
                <a:highlight>
                  <a:schemeClr val="lt1"/>
                </a:highlight>
                <a:latin typeface="Roboto Mono"/>
                <a:ea typeface="Roboto Mono"/>
                <a:cs typeface="Roboto Mono"/>
                <a:sym typeface="Roboto Mono"/>
              </a:rPr>
              <a:t>schedule(guided)</a:t>
            </a:r>
            <a:r>
              <a:rPr lang="en-US" sz="12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?</a:t>
            </a:r>
            <a:endParaRPr sz="12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Il thread 0 potrebbe inizializzare le righe 0‑249 (quindi le pagine vanno sul suo nodo NUMA).</a:t>
            </a:r>
            <a:endParaRPr sz="12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Ma a una successiva iterazione, il thread 3 potrebbe prendere in carico quelle stesse righe.</a:t>
            </a:r>
            <a:endParaRPr sz="12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AFB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rgbClr val="F9FAFB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Il thread 3 si troverebbe ad accedere a pagine allocate sul nodo NUMA del thread 0 → accesso remoto, più lento, che vanifica i benefici del First‑Touch.</a:t>
            </a:r>
            <a:endParaRPr sz="1200">
              <a:solidFill>
                <a:srgbClr val="F9FAFB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409a447a1ec_1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4b31b1f5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f4b31b1f55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409a447a1ec_1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78" name="Google Shape;278;g409a447a1ec_1_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409a447a1ec_1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85" name="Google Shape;285;g409a447a1ec_1_1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409a7734964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93" name="Google Shape;293;g409a7734964_2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409a7734964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L'ottimizzazione funziona, soprattutto nella fascia media</a:t>
            </a:r>
            <a:r>
              <a:rPr lang="en-US">
                <a:solidFill>
                  <a:schemeClr val="dk1"/>
                </a:solidFill>
              </a:rPr>
              <a:t> (8-30 processori): speedup ed efficienza sono chiaramente migliori, segno che le modifiche hanno ridotto overhead di comunicazione o migliorato il bilanciamento del carico.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Il collo di bottiglia ad alto numero di processori resta</a:t>
            </a:r>
            <a:r>
              <a:rPr lang="en-US">
                <a:solidFill>
                  <a:schemeClr val="dk1"/>
                </a:solidFill>
              </a:rPr>
              <a:t>: oltre i 40-50 processori entrambe le versioni si allontanano dalla scalabilità ideale, indicando che l'overhead di comunicazione (o la parte seriale residua, per Amdahl) domina rispetto al lavoro utile per processore.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Il mix MPI/OMP conta più del numero totale di processori</a:t>
            </a:r>
            <a:r>
              <a:rPr lang="en-US">
                <a:solidFill>
                  <a:schemeClr val="dk1"/>
                </a:solidFill>
              </a:rPr>
              <a:t>: la configurazione con troppi rank MPI e pochi thread OMP per nodo è sistematicamente la peggiore in entrambe le versioni, mentre le configurazioni con più thread OMP per rank (i punti ciano/azzurri a 64 processori) ottengono lo speedup migliore. Questo suggerisce che nella scelta della configurazione ottimale conviene privilegiare meno rank MPI con più thread OMP, piuttosto che il contrario.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chemeClr val="dk1"/>
                </a:solidFill>
              </a:rPr>
              <a:t>Per il testo "QUALCOSA DA SCRIVERE QUI"</a:t>
            </a:r>
            <a:r>
              <a:rPr lang="en-US">
                <a:solidFill>
                  <a:schemeClr val="dk1"/>
                </a:solidFill>
              </a:rPr>
              <a:t> potresti sintetizzare così: </a:t>
            </a:r>
            <a:r>
              <a:rPr i="1" lang="en-US">
                <a:solidFill>
                  <a:schemeClr val="dk1"/>
                </a:solidFill>
              </a:rPr>
              <a:t>"L'ottimizzazione MPI+OpenMP migliora speedup ed efficienza nella fascia media di processori, ma l'overhead di comunicazione limita la scalabilità oltre i ~40 core; le configurazioni con troppi rank MPI e pochi thread OMP risultano penalizzanti."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01" name="Google Shape;301;g409a7734964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409a447a1ec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13" name="Google Shape;313;g409a447a1ec_1_1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409a7734964_2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20" name="Google Shape;320;g409a7734964_2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409a447a1ec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32" name="Google Shape;332;g409a447a1ec_1_1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409a447a1ec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409a447a1ec_1_1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409a7734964_2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Idea chiave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 processi MPI hanno righe di competenza (destinazioni) e devono leggere il vettore </a:t>
            </a: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prold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completo per calcolare il nuovo PageRank.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 comunicazione (Allgatherv) per ottenere il vettore aggiornato è inevitabile, ma può essere sovrapposta a calcoli utili.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Ogni processo suddivide i propri archi in due categorie: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Archi locali – puntano a destinazioni già in possesso del processo (quindi i valori </a:t>
            </a: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prold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sono già disponibili senza attendere la rete).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Archi remoti (ghost) – puntano a destinazioni di altri processi, che saranno note solo dopo l’Allgatherv.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Risultato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Il calcolo sugli archi locali parte subito, mentre la comunicazione viaggia in background.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Quando la comunicazione termina, si completa il calcolo sugli archi remoti, minimizzando il tempo di inattività.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409a7734964_2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4b31b1f5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f4b31b1f55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4b31b1f55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Ogni thread processa un insieme disgiunto di righe </a:t>
            </a: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(indice locale 0...rec_row‑1).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 ogni arco, si controlla la colonna di destinazione </a:t>
            </a: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target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 si incrementa il contatore corrispondente.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loc_rowptr[r+1]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rem_rowptr[r+1]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memorizzano il numero di archi locali/remoti per la riga </a:t>
            </a: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Inizializzati a zero con </a:t>
            </a:r>
            <a:r>
              <a:rPr lang="en-US" sz="10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calloc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alla fine del conteggio contengono i conteggi esatti.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 prefix sum trasforma i conteggi per riga in offset cumulativi, cioè negli indici di partenza all'interno degli array piatti </a:t>
            </a:r>
            <a:r>
              <a:rPr lang="en-US" sz="9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loc_val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-US" sz="9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loc_colind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lang="en-US" sz="9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rem_val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lang="en-US" sz="95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rem_colind</a:t>
            </a:r>
            <a:r>
              <a:rPr lang="en-U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en-US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f4b31b1f55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4b31b1f5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f4b31b1f55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f4b31b1f5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f4b31b1f55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4b31b1f5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3f4b31b1f55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f4b31b1f55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02" name="Google Shape;402;g3f4b31b1f55_0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409a447a1ec_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09" name="Google Shape;409;g409a447a1ec_1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409a7734964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16" name="Google Shape;416;g409a7734964_1_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f4b31b1f55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23" name="Google Shape;423;g3f4b31b1f55_1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409a447a1ec_1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30" name="Google Shape;430;g409a447a1ec_1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409a447a1ec_1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37" name="Google Shape;437;g409a447a1ec_1_1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f4b31b1f55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44" name="Google Shape;444;g3f4b31b1f55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f4b31b1f55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f4b31b1f55_1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0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23.png"/><Relationship Id="rId6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30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1.png"/><Relationship Id="rId6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8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43.png"/><Relationship Id="rId5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32.png"/><Relationship Id="rId5" Type="http://schemas.openxmlformats.org/officeDocument/2006/relationships/image" Target="../media/image4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3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3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Relationship Id="rId4" Type="http://schemas.openxmlformats.org/officeDocument/2006/relationships/image" Target="../media/image41.png"/><Relationship Id="rId5" Type="http://schemas.openxmlformats.org/officeDocument/2006/relationships/image" Target="../media/image4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Relationship Id="rId4" Type="http://schemas.openxmlformats.org/officeDocument/2006/relationships/image" Target="../media/image3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Relationship Id="rId4" Type="http://schemas.openxmlformats.org/officeDocument/2006/relationships/image" Target="../media/image4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Relationship Id="rId4" Type="http://schemas.openxmlformats.org/officeDocument/2006/relationships/image" Target="../media/image3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619750" y="2830859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3154709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PageRank </a:t>
            </a:r>
            <a:r>
              <a:rPr lang="en-US" sz="60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HPC</a:t>
            </a:r>
            <a:endParaRPr>
              <a:solidFill>
                <a:srgbClr val="DEFF9A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992909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Ottimizzazione: dall'approccio sequenziale alla versione ibrida asincrona.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88" name="Google Shape;88;p13" title="pagerank_concept_im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8150" y="259400"/>
            <a:ext cx="4035702" cy="23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6255450" y="5854200"/>
            <a:ext cx="54834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EFF9A"/>
                </a:solidFill>
              </a:rPr>
              <a:t>Salvatore Di Maria (mat. 399/557) - </a:t>
            </a:r>
            <a:r>
              <a:rPr b="0" i="0" lang="en-US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>
                <a:solidFill>
                  <a:srgbClr val="DEFF9A"/>
                </a:solidFill>
              </a:rPr>
              <a:t>.dimaria</a:t>
            </a:r>
            <a:r>
              <a:rPr b="0" i="0" lang="en-US" cap="none" strike="noStrike">
                <a:solidFill>
                  <a:srgbClr val="DEFF9A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r>
              <a:rPr lang="en-US">
                <a:solidFill>
                  <a:srgbClr val="DEFF9A"/>
                </a:solidFill>
              </a:rPr>
              <a:t>studenti.unisannio.it</a:t>
            </a:r>
            <a:endParaRPr>
              <a:solidFill>
                <a:srgbClr val="DEFF9A"/>
              </a:solidFill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EFF9A"/>
                </a:solidFill>
              </a:rPr>
              <a:t>Raffaele Masucci (mat. 399/613) - </a:t>
            </a:r>
            <a:r>
              <a:rPr lang="en-US">
                <a:solidFill>
                  <a:srgbClr val="DEFF9A"/>
                </a:solidFill>
              </a:rPr>
              <a:t>r.masucci@studenti.unisannio.it</a:t>
            </a:r>
            <a:endParaRPr>
              <a:solidFill>
                <a:srgbClr val="DEFF9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79050" y="1942626"/>
            <a:ext cx="10233900" cy="3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100"/>
              <a:buFont typeface="Urbanist"/>
              <a:buChar char="●"/>
            </a:pPr>
            <a:r>
              <a:rPr b="1"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Definizione</a:t>
            </a:r>
            <a:r>
              <a:rPr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PageRank è un algoritmo sviluppato da Larry Page e Sergey Brin nel 1998, alla base del motore di ricerca Google. Assegna a ogni pagina web un punteggio di importanza basato sulla struttura dei link.</a:t>
            </a:r>
            <a:r>
              <a:rPr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2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100"/>
              <a:buFont typeface="Urbanist"/>
              <a:buChar char="●"/>
            </a:pPr>
            <a:r>
              <a:rPr b="1"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Modellazione del Web</a:t>
            </a:r>
            <a:r>
              <a:rPr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Rappresentazione come grafo diretto G = (V, E), con V insieme dei nodi/pagine web ed E insieme dei link tra le pagine.</a:t>
            </a:r>
            <a:endParaRPr sz="2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2100"/>
              <a:buFont typeface="Urbanist"/>
              <a:buChar char="●"/>
            </a:pPr>
            <a:r>
              <a:rPr b="1"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Principio Cardine</a:t>
            </a:r>
            <a:r>
              <a:rPr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Una pagina è tanto più importante quanti più link in ingresso riceve e quanto più essi partono da pagine importanti.</a:t>
            </a:r>
            <a:endParaRPr sz="2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571500"/>
            <a:ext cx="1123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Cos’è il</a:t>
            </a: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PageRank?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571500"/>
            <a:ext cx="1123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Cos’è il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PageRank?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103" name="Google Shape;103;p15" title="pageran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6850" y="1290175"/>
            <a:ext cx="10318299" cy="530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571500" y="571500"/>
            <a:ext cx="1123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Dati</a:t>
            </a: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impiegati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110" name="Google Shape;110;p16" title="grafo.png"/>
          <p:cNvPicPr preferRelativeResize="0"/>
          <p:nvPr/>
        </p:nvPicPr>
        <p:blipFill rotWithShape="1">
          <a:blip r:embed="rId4">
            <a:alphaModFix/>
          </a:blip>
          <a:srcRect b="249" l="0" r="0" t="239"/>
          <a:stretch/>
        </p:blipFill>
        <p:spPr>
          <a:xfrm>
            <a:off x="377350" y="1401899"/>
            <a:ext cx="11437299" cy="513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7" title="Cluster.jpg"/>
          <p:cNvPicPr preferRelativeResize="0"/>
          <p:nvPr/>
        </p:nvPicPr>
        <p:blipFill rotWithShape="1">
          <a:blip r:embed="rId3">
            <a:alphaModFix/>
          </a:blip>
          <a:srcRect b="28868" l="72245" r="664" t="12219"/>
          <a:stretch/>
        </p:blipFill>
        <p:spPr>
          <a:xfrm>
            <a:off x="4539763" y="1337400"/>
            <a:ext cx="3302976" cy="478864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571500" y="571500"/>
            <a:ext cx="1123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Ambiente di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esecuzione</a:t>
            </a:r>
            <a:endParaRPr sz="4200">
              <a:solidFill>
                <a:srgbClr val="DEFF9A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/>
          <p:nvPr/>
        </p:nvSpPr>
        <p:spPr>
          <a:xfrm>
            <a:off x="5619750" y="2830859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295275" y="3154709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Dalla Baseline al Parallelo</a:t>
            </a:r>
            <a:endParaRPr/>
          </a:p>
        </p:txBody>
      </p:sp>
      <p:sp>
        <p:nvSpPr>
          <p:cNvPr id="124" name="Google Shape;124;p18"/>
          <p:cNvSpPr txBox="1"/>
          <p:nvPr/>
        </p:nvSpPr>
        <p:spPr>
          <a:xfrm>
            <a:off x="571500" y="3992909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Analisi della versione originale e criticità iniziali.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09125"/>
            <a:ext cx="5334000" cy="3428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109116"/>
            <a:ext cx="5334000" cy="34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 txBox="1"/>
          <p:nvPr/>
        </p:nvSpPr>
        <p:spPr>
          <a:xfrm>
            <a:off x="990600" y="2490139"/>
            <a:ext cx="476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Versione Sequenziale</a:t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990600" y="2968179"/>
            <a:ext cx="45339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Implementazione base fornita dall'autore. Caratterizzata da accessi casuali alla memoria e scarsa efficienza nella gestione dei grafi sparsi di grandi dimensioni.</a:t>
            </a:r>
            <a:b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Uso limitante della st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ruttura CSC.</a:t>
            </a:r>
            <a:endParaRPr/>
          </a:p>
        </p:txBody>
      </p:sp>
      <p:sp>
        <p:nvSpPr>
          <p:cNvPr id="134" name="Google Shape;134;p19"/>
          <p:cNvSpPr txBox="1"/>
          <p:nvPr/>
        </p:nvSpPr>
        <p:spPr>
          <a:xfrm>
            <a:off x="6705600" y="2490127"/>
            <a:ext cx="476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Versione MPI Originale</a:t>
            </a:r>
            <a:endParaRPr/>
          </a:p>
        </p:txBody>
      </p:sp>
      <p:sp>
        <p:nvSpPr>
          <p:cNvPr id="135" name="Google Shape;135;p19"/>
          <p:cNvSpPr txBox="1"/>
          <p:nvPr/>
        </p:nvSpPr>
        <p:spPr>
          <a:xfrm>
            <a:off x="6705600" y="2968163"/>
            <a:ext cx="45339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Primo approccio distribuito. Limitato da una comunicazione sincrona frequente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</a:t>
            </a: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da una struttura dati (CSC) per il partizionamento dei carichi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da una centralizzazione del lavoro computazionale sul MASTER.</a:t>
            </a:r>
            <a:endParaRPr/>
          </a:p>
        </p:txBody>
      </p:sp>
      <p:sp>
        <p:nvSpPr>
          <p:cNvPr id="136" name="Google Shape;136;p19"/>
          <p:cNvSpPr txBox="1"/>
          <p:nvPr/>
        </p:nvSpPr>
        <p:spPr>
          <a:xfrm>
            <a:off x="571500" y="571500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Il Punto di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Partenza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0"/>
          <p:cNvSpPr txBox="1"/>
          <p:nvPr/>
        </p:nvSpPr>
        <p:spPr>
          <a:xfrm>
            <a:off x="628325" y="1519775"/>
            <a:ext cx="112311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memorizza i dati per colonna → maggiore occupazione di memoria e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poco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utilizzo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della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cache</a:t>
            </a:r>
            <a:endParaRPr b="1"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ogni processo/thread prende un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sottoinsieme di colonne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(nodi sorgenti)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ogni sorgente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condivide il suo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valore di pagerank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con le sue destinazioni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</a:t>
            </a:r>
            <a:endParaRPr b="1" i="1"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b="1" i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MPI_Reduce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sul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MASTER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per sommare i contributi parziali dei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WORKER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b="1" i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race condition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da gestire in caso di multithreading, quindi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maggiore overhead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571500" y="571500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CS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 </a:t>
            </a:r>
            <a:r>
              <a:rPr lang="en-US" sz="34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(Compressed Sparse Column)</a:t>
            </a:r>
            <a:endParaRPr sz="600"/>
          </a:p>
        </p:txBody>
      </p:sp>
      <p:pic>
        <p:nvPicPr>
          <p:cNvPr id="144" name="Google Shape;144;p20" title="csc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8200" y="3759600"/>
            <a:ext cx="5255600" cy="262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1"/>
          <p:cNvSpPr txBox="1"/>
          <p:nvPr/>
        </p:nvSpPr>
        <p:spPr>
          <a:xfrm>
            <a:off x="714450" y="1523400"/>
            <a:ext cx="107631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memorizza i dati per righe → minor occupazione di memoria e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massimo utilizzo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della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cache</a:t>
            </a:r>
            <a:endParaRPr b="1"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ogni processo/thread possiede un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sottoinsieme di righe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(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nodi destinazione)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ogni destinazione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riceve i contributi il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valore del pagerank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dalle sue sorgenti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</a:t>
            </a:r>
            <a:endParaRPr b="1" i="1"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distribuzione del calcolo su N processi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elimina collo di bottiglia sul MASTER</a:t>
            </a:r>
            <a:endParaRPr b="1"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b="1" i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MPI_Allgatherv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per condividere il vettore del pagerank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51" name="Google Shape;151;p21" title="csr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2650" y="3759600"/>
            <a:ext cx="5255600" cy="262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1"/>
          <p:cNvSpPr txBox="1"/>
          <p:nvPr/>
        </p:nvSpPr>
        <p:spPr>
          <a:xfrm>
            <a:off x="571500" y="571500"/>
            <a:ext cx="11443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Ottimizzazioni MPI: </a:t>
            </a:r>
            <a:r>
              <a:rPr lang="en-US" sz="38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CSR (Compressed Sparse Row)</a:t>
            </a:r>
            <a:endParaRPr sz="38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440950"/>
            <a:ext cx="4561799" cy="2666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6550" y="4020326"/>
            <a:ext cx="6372950" cy="2263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2" title="pngfind.com-black-arrows-png-6779223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-7038308">
            <a:off x="5251372" y="3432013"/>
            <a:ext cx="651042" cy="579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2" title="pngfind.com-black-arrows-png-6779223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286850">
            <a:off x="4753131" y="4136684"/>
            <a:ext cx="585350" cy="52137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/>
          <p:nvPr/>
        </p:nvSpPr>
        <p:spPr>
          <a:xfrm>
            <a:off x="571500" y="4400325"/>
            <a:ext cx="41067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uso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INEFFICIENTE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della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memoria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allocando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spazio non necessario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e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causando elevato traffico.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" name="Google Shape;163;p22"/>
          <p:cNvSpPr txBox="1"/>
          <p:nvPr/>
        </p:nvSpPr>
        <p:spPr>
          <a:xfrm>
            <a:off x="6020475" y="2266050"/>
            <a:ext cx="57147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Risparmio di memoria con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meno scritture intermedio in RAM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maggiore velocità di esecuzione.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Unica struttura di metadati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per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migliore la località della cache,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accessi più rapidi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meno cache miss.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571500" y="571500"/>
            <a:ext cx="11443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Ottimizzazioni MPI: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Efficientamento memoria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625" y="1430528"/>
            <a:ext cx="4754352" cy="2892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3" title="Snap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8100" y="3245618"/>
            <a:ext cx="5465201" cy="316743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 txBox="1"/>
          <p:nvPr/>
        </p:nvSpPr>
        <p:spPr>
          <a:xfrm>
            <a:off x="571500" y="571500"/>
            <a:ext cx="4561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Ottimizzazioni MPI</a:t>
            </a:r>
            <a:endParaRPr sz="2800"/>
          </a:p>
        </p:txBody>
      </p:sp>
      <p:pic>
        <p:nvPicPr>
          <p:cNvPr id="172" name="Google Shape;172;p23" title="pngfind.com-black-arrows-png-6779223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286839">
            <a:off x="5258548" y="4266371"/>
            <a:ext cx="653738" cy="582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3" title="pngfind.com-black-arrows-png-6779223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-7038259">
            <a:off x="5610823" y="2643442"/>
            <a:ext cx="654697" cy="58312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3"/>
          <p:cNvSpPr txBox="1"/>
          <p:nvPr/>
        </p:nvSpPr>
        <p:spPr>
          <a:xfrm>
            <a:off x="6930175" y="2422800"/>
            <a:ext cx="5125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Distribuzione del calcolo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su N processi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b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</a:b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(WORKERS + MASTER)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681625" y="4471775"/>
            <a:ext cx="419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MASTER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punto cruciale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del calcolo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!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3"/>
          <p:cNvSpPr txBox="1"/>
          <p:nvPr/>
        </p:nvSpPr>
        <p:spPr>
          <a:xfrm>
            <a:off x="571500" y="571500"/>
            <a:ext cx="11239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Ottimizzazioni MPI: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Rimozione Bottleneck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4"/>
          <p:cNvSpPr txBox="1"/>
          <p:nvPr/>
        </p:nvSpPr>
        <p:spPr>
          <a:xfrm>
            <a:off x="571500" y="571500"/>
            <a:ext cx="11443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Ottimizzazioni MPI: </a:t>
            </a:r>
            <a:r>
              <a:rPr lang="en-US" sz="34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Coalescenza  della comunicazione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183" name="Google Shape;18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0125" y="3236451"/>
            <a:ext cx="4983351" cy="309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1418350"/>
            <a:ext cx="5555277" cy="2964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4" title="pngfind.com-black-arrows-png-6779223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 rot="-7038308">
            <a:off x="6257913" y="2640628"/>
            <a:ext cx="651042" cy="57988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4"/>
          <p:cNvSpPr txBox="1"/>
          <p:nvPr/>
        </p:nvSpPr>
        <p:spPr>
          <a:xfrm>
            <a:off x="571500" y="4583500"/>
            <a:ext cx="51564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uso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MASSIVO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della comunicazione sul processo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MASTER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87" name="Google Shape;187;p24" title="pngfind.com-black-arrows-png-6779223(1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286850">
            <a:off x="5803323" y="4380915"/>
            <a:ext cx="585350" cy="52137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4"/>
          <p:cNvSpPr txBox="1"/>
          <p:nvPr/>
        </p:nvSpPr>
        <p:spPr>
          <a:xfrm>
            <a:off x="7112275" y="2367075"/>
            <a:ext cx="4635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Comunicazione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RIDOTTA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con accorpamento di messaggi.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7007681" y="4636136"/>
            <a:ext cx="4082100" cy="1944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7007676" y="5488289"/>
            <a:ext cx="3139500" cy="3918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/>
        </p:nvSpPr>
        <p:spPr>
          <a:xfrm>
            <a:off x="571500" y="571500"/>
            <a:ext cx="10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Analisi </a:t>
            </a: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Performance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aphicFrame>
        <p:nvGraphicFramePr>
          <p:cNvPr id="197" name="Google Shape;197;p25"/>
          <p:cNvGraphicFramePr/>
          <p:nvPr/>
        </p:nvGraphicFramePr>
        <p:xfrm>
          <a:off x="732975" y="1376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{D103A096-27C8-43EC-AC49-53E414F85B7F}</a:tableStyleId>
              </a:tblPr>
              <a:tblGrid>
                <a:gridCol w="1052650"/>
                <a:gridCol w="978225"/>
                <a:gridCol w="1307850"/>
                <a:gridCol w="1350375"/>
                <a:gridCol w="999500"/>
                <a:gridCol w="1531125"/>
                <a:gridCol w="1382300"/>
                <a:gridCol w="967600"/>
                <a:gridCol w="9782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MPI nativa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MPI ottimizzato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B3E1"/>
                    </a:solidFill>
                  </a:tcPr>
                </a:tc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Nodi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Processori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Processi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Tempo (s)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Speedup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Efficienza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Tempo (s)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B3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Speedup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B3E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Efficienza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4B3E1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8,9626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2,2840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2,284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7,2666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2,8171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2,817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8,0207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2,5522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1,276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6,0778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3,3681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1,684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6,1440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3,3318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0,833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4,1908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4,8846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1,221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5,0277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4,0715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0,509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3,0625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6,6842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0,836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4,2696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4,7945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0,300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2,3601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8,6736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0,542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17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17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9,9347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2,0605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0,121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3,3568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6,0982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0,359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12,7495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1,6056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0,050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2,8205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7,2578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0,227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13,0303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1,5710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0,048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2,7989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7,3138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0,222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15,9715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1,2817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0,027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2,3377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8,7567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0,182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19,7529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1,0363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0,016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2,2029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9,2925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0,145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128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83,2452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0,2459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0,004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3,8613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5,3015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0,083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EE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6"/>
          <p:cNvSpPr txBox="1"/>
          <p:nvPr/>
        </p:nvSpPr>
        <p:spPr>
          <a:xfrm>
            <a:off x="571500" y="571500"/>
            <a:ext cx="10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Analisi Performance: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Speedup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204" name="Google Shape;204;p26" title="speedup_confron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75" y="1300632"/>
            <a:ext cx="10179425" cy="5044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7" title="efficienza_confront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6275" y="1300632"/>
            <a:ext cx="10179425" cy="504497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/>
        </p:nvSpPr>
        <p:spPr>
          <a:xfrm>
            <a:off x="571500" y="571500"/>
            <a:ext cx="10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Analisi Performance: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Efficienza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8"/>
          <p:cNvSpPr txBox="1"/>
          <p:nvPr/>
        </p:nvSpPr>
        <p:spPr>
          <a:xfrm>
            <a:off x="571500" y="571500"/>
            <a:ext cx="10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Analisi delle comunicazioni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218" name="Google Shape;21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1875" y="1218000"/>
            <a:ext cx="9288248" cy="531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9"/>
          <p:cNvSpPr/>
          <p:nvPr/>
        </p:nvSpPr>
        <p:spPr>
          <a:xfrm>
            <a:off x="5619750" y="2830859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9"/>
          <p:cNvSpPr txBox="1"/>
          <p:nvPr/>
        </p:nvSpPr>
        <p:spPr>
          <a:xfrm>
            <a:off x="295275" y="3154709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Il Paradigma Ibrido</a:t>
            </a:r>
            <a:endParaRPr/>
          </a:p>
        </p:txBody>
      </p:sp>
      <p:sp>
        <p:nvSpPr>
          <p:cNvPr id="226" name="Google Shape;226;p29"/>
          <p:cNvSpPr txBox="1"/>
          <p:nvPr/>
        </p:nvSpPr>
        <p:spPr>
          <a:xfrm>
            <a:off x="571500" y="3992909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Massimizzare l'utilizzo delle risorse computazionali del nodo.</a:t>
            </a:r>
            <a:endParaRPr/>
          </a:p>
        </p:txBody>
      </p:sp>
      <p:pic>
        <p:nvPicPr>
          <p:cNvPr id="227" name="Google Shape;22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0698" y="991146"/>
            <a:ext cx="4368351" cy="143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0"/>
          <p:cNvSpPr txBox="1"/>
          <p:nvPr/>
        </p:nvSpPr>
        <p:spPr>
          <a:xfrm>
            <a:off x="571500" y="571500"/>
            <a:ext cx="116014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Sinergia </a:t>
            </a:r>
            <a:r>
              <a:rPr b="0" i="0" lang="en-US" sz="42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MPI + OpenMP</a:t>
            </a:r>
            <a:endParaRPr/>
          </a:p>
        </p:txBody>
      </p:sp>
      <p:pic>
        <p:nvPicPr>
          <p:cNvPr id="234" name="Google Shape;234;p30" title="mpi_openmp_structure_dark.png"/>
          <p:cNvPicPr preferRelativeResize="0"/>
          <p:nvPr/>
        </p:nvPicPr>
        <p:blipFill rotWithShape="1">
          <a:blip r:embed="rId4">
            <a:alphaModFix/>
          </a:blip>
          <a:srcRect b="0" l="0" r="0" t="6812"/>
          <a:stretch/>
        </p:blipFill>
        <p:spPr>
          <a:xfrm>
            <a:off x="5639850" y="1334100"/>
            <a:ext cx="6159626" cy="4189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0"/>
          <p:cNvSpPr txBox="1"/>
          <p:nvPr/>
        </p:nvSpPr>
        <p:spPr>
          <a:xfrm>
            <a:off x="254850" y="2708700"/>
            <a:ext cx="53850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Riduzione processi MPI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→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minore comunicazione</a:t>
            </a:r>
            <a:endParaRPr b="0" i="0" sz="1800" u="none" cap="none" strike="noStrike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b="1" i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Sfruttamento memoria condivisa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all’interno del nodo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→ o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ttimizzazione uso cache e memoria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Migliore scalabilità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1"/>
          <p:cNvSpPr txBox="1"/>
          <p:nvPr/>
        </p:nvSpPr>
        <p:spPr>
          <a:xfrm>
            <a:off x="571500" y="571500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MPI + OpenMP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base</a:t>
            </a: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: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computazione</a:t>
            </a:r>
            <a:endParaRPr>
              <a:solidFill>
                <a:srgbClr val="DEFF9A"/>
              </a:solidFill>
            </a:endParaRPr>
          </a:p>
        </p:txBody>
      </p:sp>
      <p:pic>
        <p:nvPicPr>
          <p:cNvPr id="242" name="Google Shape;24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1" y="1646821"/>
            <a:ext cx="4887050" cy="425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1"/>
          <p:cNvSpPr txBox="1"/>
          <p:nvPr/>
        </p:nvSpPr>
        <p:spPr>
          <a:xfrm>
            <a:off x="6018875" y="2474004"/>
            <a:ext cx="5385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Parallelismo a grana grossa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Fusione delle operazioni in un unico ciclo parallelo: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SpMV, dangling mass e norma residua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→ drastica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riduzione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del numero di sincronizzazioni globali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di comunicazioni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Calcolo “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in-place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” → nessun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overhead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durante il calcolo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2"/>
          <p:cNvSpPr txBox="1"/>
          <p:nvPr/>
        </p:nvSpPr>
        <p:spPr>
          <a:xfrm>
            <a:off x="571500" y="571500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MPI + OpenMP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base</a:t>
            </a: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: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comunicazione</a:t>
            </a:r>
            <a:endParaRPr>
              <a:solidFill>
                <a:srgbClr val="DEFF9A"/>
              </a:solidFill>
            </a:endParaRPr>
          </a:p>
        </p:txBody>
      </p:sp>
      <p:pic>
        <p:nvPicPr>
          <p:cNvPr id="250" name="Google Shape;25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714" y="1646825"/>
            <a:ext cx="5415120" cy="425867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2"/>
          <p:cNvSpPr txBox="1"/>
          <p:nvPr/>
        </p:nvSpPr>
        <p:spPr>
          <a:xfrm>
            <a:off x="6326200" y="3096442"/>
            <a:ext cx="53850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Comunicazione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MPI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confinata sul </a:t>
            </a:r>
            <a:r>
              <a:rPr b="1"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hread MASTER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→ MPI_THREAD_FUNNELED</a:t>
            </a:r>
            <a:endParaRPr b="1"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3"/>
          <p:cNvSpPr txBox="1"/>
          <p:nvPr/>
        </p:nvSpPr>
        <p:spPr>
          <a:xfrm>
            <a:off x="571500" y="571500"/>
            <a:ext cx="10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Analisi delle comunicazioni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258" name="Google Shape;25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8539" y="1218000"/>
            <a:ext cx="8974925" cy="54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4"/>
          <p:cNvSpPr txBox="1"/>
          <p:nvPr/>
        </p:nvSpPr>
        <p:spPr>
          <a:xfrm>
            <a:off x="571500" y="571500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MPI + OpenMP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ottimizzato</a:t>
            </a:r>
            <a:endParaRPr>
              <a:solidFill>
                <a:srgbClr val="DEFF9A"/>
              </a:solidFill>
            </a:endParaRPr>
          </a:p>
        </p:txBody>
      </p:sp>
      <p:pic>
        <p:nvPicPr>
          <p:cNvPr id="265" name="Google Shape;26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25757" y="1355750"/>
            <a:ext cx="4537618" cy="4953601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4"/>
          <p:cNvSpPr txBox="1"/>
          <p:nvPr/>
        </p:nvSpPr>
        <p:spPr>
          <a:xfrm>
            <a:off x="571500" y="1355761"/>
            <a:ext cx="62757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Adozione</a:t>
            </a:r>
            <a:r>
              <a:rPr b="1"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del</a:t>
            </a:r>
            <a:r>
              <a:rPr b="1"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First-Touch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miglioramento della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località dei dati e riduzione degli accessi alla memoria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remota (NUMA)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Scheduling Statico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coerente al First-Touch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Uso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istruzioni vettoriali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Rimozione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barriere implicite con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owait</a:t>
            </a:r>
            <a:endParaRPr b="1"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Riduzione manuale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atomic</a:t>
            </a:r>
            <a:endParaRPr b="1"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67" name="Google Shape;26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4950" y="4097800"/>
            <a:ext cx="3023740" cy="221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5"/>
          <p:cNvSpPr txBox="1"/>
          <p:nvPr/>
        </p:nvSpPr>
        <p:spPr>
          <a:xfrm>
            <a:off x="571500" y="571500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MPI + OpenMP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ottimizzato</a:t>
            </a: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: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compilazione</a:t>
            </a:r>
            <a:endParaRPr>
              <a:solidFill>
                <a:srgbClr val="DEFF9A"/>
              </a:solidFill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2799000" y="2861913"/>
            <a:ext cx="6594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-O3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→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massimo livello di ottimizzazione del compilatore.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↓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45720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Function inlining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45720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Loop unrolling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 ottimizzazione dei cicli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45720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Auto-vectorization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(SIMD)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Eliminazione del codice ridondante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 propagazione delle costanti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5" name="Google Shape;275;p35"/>
          <p:cNvSpPr txBox="1"/>
          <p:nvPr/>
        </p:nvSpPr>
        <p:spPr>
          <a:xfrm>
            <a:off x="2073900" y="2032825"/>
            <a:ext cx="8044200" cy="254100"/>
          </a:xfrm>
          <a:prstGeom prst="rect">
            <a:avLst/>
          </a:prstGeom>
          <a:noFill/>
          <a:ln cap="flat" cmpd="sng" w="9525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52400" marR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DEFF9A"/>
                </a:solidFill>
                <a:latin typeface="Courier New"/>
                <a:ea typeface="Courier New"/>
                <a:cs typeface="Courier New"/>
                <a:sym typeface="Courier New"/>
              </a:rPr>
              <a:t>$</a:t>
            </a:r>
            <a:r>
              <a:rPr lang="en-US" sz="16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mpicc </a:t>
            </a:r>
            <a:r>
              <a:rPr b="1" lang="en-US" sz="16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-O3</a:t>
            </a:r>
            <a:r>
              <a:rPr lang="en-US" sz="16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-fopenmp &lt;SOURCES&gt; -o &lt;OUTPUT&gt; -Ilibraries -lm</a:t>
            </a:r>
            <a:endParaRPr b="1" sz="2400">
              <a:solidFill>
                <a:srgbClr val="DAFFDE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6"/>
          <p:cNvSpPr txBox="1"/>
          <p:nvPr/>
        </p:nvSpPr>
        <p:spPr>
          <a:xfrm>
            <a:off x="571500" y="571500"/>
            <a:ext cx="10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Analisi delle comunicazioni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282" name="Google Shape;28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4000" y="1218000"/>
            <a:ext cx="9944003" cy="535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7"/>
          <p:cNvSpPr txBox="1"/>
          <p:nvPr/>
        </p:nvSpPr>
        <p:spPr>
          <a:xfrm>
            <a:off x="571500" y="571500"/>
            <a:ext cx="10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Analisi Performance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89" name="Google Shape;289;p37"/>
          <p:cNvSpPr txBox="1"/>
          <p:nvPr/>
        </p:nvSpPr>
        <p:spPr>
          <a:xfrm>
            <a:off x="571500" y="1842650"/>
            <a:ext cx="5172300" cy="4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--map-by node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→ distribuzione uniforme dei processi MPI sui nodi del cluster,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favorendo il bilanciamento del carico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Utilizzo della rete InfiniBand nativa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→ riduzione della latenza e aumento della banda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nelle comunicazioni MPI tra nodi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Massimo utilizzo delle risorse hardware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configurazioni scelte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per occupare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sempre tutti i core disponibili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del cluster.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Scalabilità ibrida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confronto di diverse configurazioni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MPI+OpenMP mantenendo costante il numero di processori utilizzati (es. più processi e meno thread, oppure meno processi e più thread).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90" name="Google Shape;290;p37" title="Cluster.jpg"/>
          <p:cNvPicPr preferRelativeResize="0"/>
          <p:nvPr/>
        </p:nvPicPr>
        <p:blipFill rotWithShape="1">
          <a:blip r:embed="rId4">
            <a:alphaModFix/>
          </a:blip>
          <a:srcRect b="29498" l="867" r="28080" t="13057"/>
          <a:stretch/>
        </p:blipFill>
        <p:spPr>
          <a:xfrm>
            <a:off x="5890748" y="2308138"/>
            <a:ext cx="5916177" cy="3188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8"/>
          <p:cNvSpPr txBox="1"/>
          <p:nvPr/>
        </p:nvSpPr>
        <p:spPr>
          <a:xfrm>
            <a:off x="571500" y="571500"/>
            <a:ext cx="10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Analisi Performance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297" name="Google Shape;297;p38"/>
          <p:cNvSpPr txBox="1"/>
          <p:nvPr/>
        </p:nvSpPr>
        <p:spPr>
          <a:xfrm>
            <a:off x="3224900" y="2340425"/>
            <a:ext cx="6626700" cy="23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INSERIRE TABELLA MISURE IBRIDO E OTTIMIZZATO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8" name="Google Shape;298;p38"/>
          <p:cNvGraphicFramePr/>
          <p:nvPr/>
        </p:nvGraphicFramePr>
        <p:xfrm>
          <a:off x="676175" y="121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{D103A096-27C8-43EC-AC49-53E414F85B7F}</a:tableStyleId>
              </a:tblPr>
              <a:tblGrid>
                <a:gridCol w="1093525"/>
                <a:gridCol w="585050"/>
                <a:gridCol w="585050"/>
                <a:gridCol w="585050"/>
                <a:gridCol w="585050"/>
                <a:gridCol w="1305525"/>
                <a:gridCol w="1251800"/>
                <a:gridCol w="1235775"/>
                <a:gridCol w="1317850"/>
                <a:gridCol w="1109500"/>
                <a:gridCol w="11853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91425" marB="91425" marR="91425" marL="91425">
                    <a:lnL cap="flat" cmpd="sng" w="6350">
                      <a:solidFill>
                        <a:srgbClr val="44B3E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44B3E1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MPI + OpenMP base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1C00"/>
                    </a:solidFill>
                  </a:tcPr>
                </a:tc>
                <a:tc hMerge="1"/>
                <a:tc hMerge="1"/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MPI + OpenMP ottimizzato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 hMerge="1"/>
                <a:tc hMerge="1"/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</a:rPr>
                        <a:t>Processori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</a:rPr>
                        <a:t>Configurazioni (Proc./Thread)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Tempo (s)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1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Speedup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1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Efficienza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1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Tempo (s)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Speedup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Efficienza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1/1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6AA84F"/>
                        </a:gs>
                        <a:gs pos="49000">
                          <a:srgbClr val="6AA84F"/>
                        </a:gs>
                        <a:gs pos="49000">
                          <a:srgbClr val="9B5428"/>
                        </a:gs>
                        <a:gs pos="100000">
                          <a:srgbClr val="CC0000"/>
                        </a:gs>
                      </a:gsLst>
                      <a:lin ang="2700006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8,3068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2,4643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2,464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3,5084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5,8347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5,835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1/2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 2/1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1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6,5085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3,1452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1,573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2,8601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7,1573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3,579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1/4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 2/2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1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5,5655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3,6781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0,920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2,1643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9,4583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2,365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3/2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6AA84F"/>
                        </a:gs>
                        <a:gs pos="49000">
                          <a:srgbClr val="6AA84F"/>
                        </a:gs>
                        <a:gs pos="49000">
                          <a:srgbClr val="9B5428"/>
                        </a:gs>
                        <a:gs pos="100000">
                          <a:srgbClr val="CC0000"/>
                        </a:gs>
                      </a:gsLst>
                      <a:lin ang="2700006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2/3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3,6044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5,6793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0,947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1,7205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11,8980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1,983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1/8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2/4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4/2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6AA84F"/>
                        </a:gs>
                        <a:gs pos="49000">
                          <a:srgbClr val="6AA84F"/>
                        </a:gs>
                        <a:gs pos="49000">
                          <a:srgbClr val="9B5428"/>
                        </a:gs>
                        <a:gs pos="100000">
                          <a:srgbClr val="CC0000"/>
                        </a:gs>
                      </a:gsLst>
                      <a:lin ang="2700006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3,0005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9,0123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0,853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1,4458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14,1586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1,777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3/4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6AA84F"/>
                        </a:gs>
                        <a:gs pos="49000">
                          <a:srgbClr val="6AA84F"/>
                        </a:gs>
                        <a:gs pos="49000">
                          <a:srgbClr val="9B5428"/>
                        </a:gs>
                        <a:gs pos="100000">
                          <a:srgbClr val="CC0000"/>
                        </a:gs>
                      </a:gsLst>
                      <a:lin ang="2700006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2,2714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6,8224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0,751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1,1533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17,7495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1,479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1/16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2/8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4/4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61C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8/2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1,9100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10,7175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0,670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0,9989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20,4930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1,281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3/8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6AA84F"/>
                        </a:gs>
                        <a:gs pos="49000">
                          <a:srgbClr val="6AA84F"/>
                        </a:gs>
                        <a:gs pos="49000">
                          <a:srgbClr val="9B5428"/>
                        </a:gs>
                        <a:gs pos="100000">
                          <a:srgbClr val="CC0000"/>
                        </a:gs>
                      </a:gsLst>
                      <a:lin ang="2700006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1,5059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13,5935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0,566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0,8399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24,3725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1,016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2/16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4/8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6AA84F"/>
                        </a:gs>
                        <a:gs pos="49000">
                          <a:srgbClr val="6AA84F"/>
                        </a:gs>
                        <a:gs pos="49000">
                          <a:srgbClr val="9B5428"/>
                        </a:gs>
                        <a:gs pos="100000">
                          <a:srgbClr val="CC0000"/>
                        </a:gs>
                      </a:gsLst>
                      <a:lin ang="2700006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8/4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16/2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1,2615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16,2271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0,507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0,7236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28,2898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0,884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16/3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8/6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6AA84F"/>
                        </a:gs>
                        <a:gs pos="49000">
                          <a:srgbClr val="6AA84F"/>
                        </a:gs>
                        <a:gs pos="49000">
                          <a:srgbClr val="9B5428"/>
                        </a:gs>
                        <a:gs pos="100000">
                          <a:srgbClr val="CC0000"/>
                        </a:gs>
                      </a:gsLst>
                      <a:lin ang="2700006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3/16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0,9845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20,7928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0,433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0,5893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34,7370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200">
                          <a:solidFill>
                            <a:schemeClr val="dk1"/>
                          </a:solidFill>
                        </a:rPr>
                        <a:t>0,724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60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6/10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6AA84F"/>
                        </a:gs>
                        <a:gs pos="49000">
                          <a:srgbClr val="6AA84F"/>
                        </a:gs>
                        <a:gs pos="49000">
                          <a:srgbClr val="9B5428"/>
                        </a:gs>
                        <a:gs pos="100000">
                          <a:srgbClr val="CC0000"/>
                        </a:gs>
                      </a:gsLst>
                      <a:lin ang="2700006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0,8603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23,7946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0,397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0,6273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32,6327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0,544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4/16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8/8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6AA84F"/>
                        </a:gs>
                        <a:gs pos="49000">
                          <a:srgbClr val="6AA84F"/>
                        </a:gs>
                        <a:gs pos="49000">
                          <a:srgbClr val="9B5428"/>
                        </a:gs>
                        <a:gs pos="100000">
                          <a:srgbClr val="CC0000"/>
                        </a:gs>
                      </a:gsLst>
                      <a:lin ang="2700006" scaled="0"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16/4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0,7879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25,9811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0,406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0,5132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39,8880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0,623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9"/>
          <p:cNvSpPr txBox="1"/>
          <p:nvPr/>
        </p:nvSpPr>
        <p:spPr>
          <a:xfrm>
            <a:off x="571500" y="571500"/>
            <a:ext cx="10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Analisi Performance</a:t>
            </a: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: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Speedup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305" name="Google Shape;305;p39" title="pr_hybrid_opt_scatter.png"/>
          <p:cNvPicPr preferRelativeResize="0"/>
          <p:nvPr/>
        </p:nvPicPr>
        <p:blipFill rotWithShape="1">
          <a:blip r:embed="rId4">
            <a:alphaModFix/>
          </a:blip>
          <a:srcRect b="15060" l="0" r="19987" t="0"/>
          <a:stretch/>
        </p:blipFill>
        <p:spPr>
          <a:xfrm>
            <a:off x="5478500" y="3262439"/>
            <a:ext cx="4996823" cy="2755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9" title="pr_hybrid_scatter.png"/>
          <p:cNvPicPr preferRelativeResize="0"/>
          <p:nvPr/>
        </p:nvPicPr>
        <p:blipFill rotWithShape="1">
          <a:blip r:embed="rId5">
            <a:alphaModFix/>
          </a:blip>
          <a:srcRect b="15419" l="0" r="19974" t="0"/>
          <a:stretch/>
        </p:blipFill>
        <p:spPr>
          <a:xfrm>
            <a:off x="335350" y="3268489"/>
            <a:ext cx="4996813" cy="274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9" title="pr_hybrid_opt_scatter.png"/>
          <p:cNvPicPr preferRelativeResize="0"/>
          <p:nvPr/>
        </p:nvPicPr>
        <p:blipFill rotWithShape="1">
          <a:blip r:embed="rId4">
            <a:alphaModFix/>
          </a:blip>
          <a:srcRect b="0" l="80514" r="0" t="0"/>
          <a:stretch/>
        </p:blipFill>
        <p:spPr>
          <a:xfrm>
            <a:off x="10621652" y="2480700"/>
            <a:ext cx="1324600" cy="3531549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9"/>
          <p:cNvSpPr txBox="1"/>
          <p:nvPr/>
        </p:nvSpPr>
        <p:spPr>
          <a:xfrm>
            <a:off x="6567522" y="6040200"/>
            <a:ext cx="281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MPI + OpenMP ottimizzato</a:t>
            </a:r>
            <a:endParaRPr b="1"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39"/>
          <p:cNvSpPr txBox="1"/>
          <p:nvPr/>
        </p:nvSpPr>
        <p:spPr>
          <a:xfrm>
            <a:off x="1768774" y="6040200"/>
            <a:ext cx="213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MPI + OpenMP base</a:t>
            </a:r>
            <a:endParaRPr b="1"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39"/>
          <p:cNvSpPr txBox="1"/>
          <p:nvPr/>
        </p:nvSpPr>
        <p:spPr>
          <a:xfrm>
            <a:off x="335350" y="1713875"/>
            <a:ext cx="101400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L'ottimizzazione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migliora sensibilmente lo speedup rispetto alla versione base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in particolare nella fascia media di processori, ma il divario dallo speedup ideale resta significativo oltre i 40 core a causa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dell'overhead di comunicazione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5" name="Google Shape;31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0"/>
          <p:cNvSpPr txBox="1"/>
          <p:nvPr/>
        </p:nvSpPr>
        <p:spPr>
          <a:xfrm>
            <a:off x="571500" y="571500"/>
            <a:ext cx="10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Analisi Performance: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Speedup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317" name="Google Shape;317;p40" title="speedup_confronto_ibrido.png"/>
          <p:cNvPicPr preferRelativeResize="0"/>
          <p:nvPr/>
        </p:nvPicPr>
        <p:blipFill rotWithShape="1">
          <a:blip r:embed="rId4">
            <a:alphaModFix/>
          </a:blip>
          <a:srcRect b="50" l="0" r="0" t="50"/>
          <a:stretch/>
        </p:blipFill>
        <p:spPr>
          <a:xfrm>
            <a:off x="1006263" y="1289325"/>
            <a:ext cx="10179476" cy="504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1"/>
          <p:cNvSpPr txBox="1"/>
          <p:nvPr/>
        </p:nvSpPr>
        <p:spPr>
          <a:xfrm>
            <a:off x="571500" y="571500"/>
            <a:ext cx="10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Analisi Performance: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Efficienza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324" name="Google Shape;324;p41"/>
          <p:cNvSpPr txBox="1"/>
          <p:nvPr/>
        </p:nvSpPr>
        <p:spPr>
          <a:xfrm>
            <a:off x="6567522" y="6040200"/>
            <a:ext cx="2818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MPI + OpenMP ottimizzato</a:t>
            </a:r>
            <a:endParaRPr b="1"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5" name="Google Shape;325;p41"/>
          <p:cNvSpPr txBox="1"/>
          <p:nvPr/>
        </p:nvSpPr>
        <p:spPr>
          <a:xfrm>
            <a:off x="1768774" y="6040200"/>
            <a:ext cx="213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MPI + OpenMP base</a:t>
            </a:r>
            <a:endParaRPr b="1"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326" name="Google Shape;326;p41" title="pr_hybrid_efficienza_scatter.png"/>
          <p:cNvPicPr preferRelativeResize="0"/>
          <p:nvPr/>
        </p:nvPicPr>
        <p:blipFill rotWithShape="1">
          <a:blip r:embed="rId4">
            <a:alphaModFix/>
          </a:blip>
          <a:srcRect b="17471" l="0" r="20019" t="0"/>
          <a:stretch/>
        </p:blipFill>
        <p:spPr>
          <a:xfrm>
            <a:off x="335350" y="3268500"/>
            <a:ext cx="4996823" cy="2678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1" title="pr_hybrid_opt_efficienza_scatter.png"/>
          <p:cNvPicPr preferRelativeResize="0"/>
          <p:nvPr/>
        </p:nvPicPr>
        <p:blipFill rotWithShape="1">
          <a:blip r:embed="rId5">
            <a:alphaModFix/>
          </a:blip>
          <a:srcRect b="15469" l="1874" r="18717" t="0"/>
          <a:stretch/>
        </p:blipFill>
        <p:spPr>
          <a:xfrm>
            <a:off x="5478500" y="3271100"/>
            <a:ext cx="4848041" cy="267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1" title="pr_hybrid_efficienza_scatter.png"/>
          <p:cNvPicPr preferRelativeResize="0"/>
          <p:nvPr/>
        </p:nvPicPr>
        <p:blipFill rotWithShape="1">
          <a:blip r:embed="rId4">
            <a:alphaModFix/>
          </a:blip>
          <a:srcRect b="0" l="79966" r="0" t="3410"/>
          <a:stretch/>
        </p:blipFill>
        <p:spPr>
          <a:xfrm>
            <a:off x="10574825" y="2288275"/>
            <a:ext cx="1468099" cy="367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1"/>
          <p:cNvSpPr txBox="1"/>
          <p:nvPr/>
        </p:nvSpPr>
        <p:spPr>
          <a:xfrm>
            <a:off x="335350" y="1718196"/>
            <a:ext cx="101400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L'efficienza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cala progressivamente all'aumentare dei processori in entrambe le versioni</a:t>
            </a:r>
            <a:r>
              <a:rPr lang="en-US" sz="18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, ma la versione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ottimizzata</a:t>
            </a:r>
            <a:r>
              <a:rPr lang="en-US" sz="18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mostra un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guadagno iniziale più marcato e mantiene valori più vicini o superiori all'ideale</a:t>
            </a:r>
            <a:r>
              <a:rPr lang="en-US" sz="18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, per poi convergere anch'essa verso livelli bassi ad alta parallelizzazione. </a:t>
            </a:r>
            <a:endParaRPr sz="1800">
              <a:solidFill>
                <a:srgbClr val="F5F5F5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2"/>
          <p:cNvSpPr txBox="1"/>
          <p:nvPr/>
        </p:nvSpPr>
        <p:spPr>
          <a:xfrm>
            <a:off x="571500" y="571500"/>
            <a:ext cx="10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Analisi Performance: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Efficienza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336" name="Google Shape;336;p42" title="efficienza_confronto_ibrido.png"/>
          <p:cNvPicPr preferRelativeResize="0"/>
          <p:nvPr/>
        </p:nvPicPr>
        <p:blipFill rotWithShape="1">
          <a:blip r:embed="rId4">
            <a:alphaModFix/>
          </a:blip>
          <a:srcRect b="50" l="0" r="0" t="50"/>
          <a:stretch/>
        </p:blipFill>
        <p:spPr>
          <a:xfrm>
            <a:off x="1006275" y="1289325"/>
            <a:ext cx="10179425" cy="504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1" name="Google Shape;34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3"/>
          <p:cNvSpPr/>
          <p:nvPr/>
        </p:nvSpPr>
        <p:spPr>
          <a:xfrm>
            <a:off x="5619750" y="2830859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3"/>
          <p:cNvSpPr txBox="1"/>
          <p:nvPr/>
        </p:nvSpPr>
        <p:spPr>
          <a:xfrm>
            <a:off x="295275" y="3154709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Evoluzione Asincrona</a:t>
            </a:r>
            <a:endParaRPr/>
          </a:p>
        </p:txBody>
      </p:sp>
      <p:sp>
        <p:nvSpPr>
          <p:cNvPr id="344" name="Google Shape;344;p43"/>
          <p:cNvSpPr txBox="1"/>
          <p:nvPr/>
        </p:nvSpPr>
        <p:spPr>
          <a:xfrm>
            <a:off x="571500" y="3992909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Overlap calcolo e comunicazione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9" name="Google Shape;34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4"/>
          <p:cNvSpPr txBox="1"/>
          <p:nvPr/>
        </p:nvSpPr>
        <p:spPr>
          <a:xfrm>
            <a:off x="571500" y="571500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MPI + OpenMP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asincrono</a:t>
            </a:r>
            <a:endParaRPr>
              <a:solidFill>
                <a:srgbClr val="DEFF9A"/>
              </a:solidFill>
            </a:endParaRPr>
          </a:p>
        </p:txBody>
      </p:sp>
      <p:sp>
        <p:nvSpPr>
          <p:cNvPr id="351" name="Google Shape;351;p44"/>
          <p:cNvSpPr txBox="1"/>
          <p:nvPr/>
        </p:nvSpPr>
        <p:spPr>
          <a:xfrm>
            <a:off x="979050" y="1629476"/>
            <a:ext cx="10233900" cy="48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2100"/>
              <a:buFont typeface="Urbanist"/>
              <a:buChar char="➔"/>
            </a:pPr>
            <a:r>
              <a:rPr b="1"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Contesto</a:t>
            </a:r>
            <a:r>
              <a:rPr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ogni processo MPI gestisce delle righe (destinazioni) di competenza e i relativi archi, che potremmo considerare come archi locali e remoti, e legge il vettore </a:t>
            </a:r>
            <a:r>
              <a:rPr b="1" i="1"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prold</a:t>
            </a:r>
            <a:r>
              <a:rPr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per calcolare il nuovo Pagerank.</a:t>
            </a:r>
            <a:endParaRPr sz="2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2100"/>
              <a:buFont typeface="Urbanist"/>
              <a:buChar char="➔"/>
            </a:pPr>
            <a:r>
              <a:rPr b="1"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Archi locali</a:t>
            </a:r>
            <a:r>
              <a:rPr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puntano a destinazioni già possedute dal processo (i valori di </a:t>
            </a:r>
            <a:r>
              <a:rPr b="1" i="1"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prold</a:t>
            </a:r>
            <a:r>
              <a:rPr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sono già disponibili senza attendere la rete).</a:t>
            </a:r>
            <a:endParaRPr sz="2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2100"/>
              <a:buFont typeface="Urbanist"/>
              <a:buChar char="➔"/>
            </a:pPr>
            <a:r>
              <a:rPr b="1"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Archi remoti</a:t>
            </a:r>
            <a:r>
              <a:rPr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puntano a destinazioni possedute da altri processi e dunque disponibili solo dopo comunicazioni via rete.</a:t>
            </a:r>
            <a:endParaRPr sz="2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19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2100"/>
              <a:buFont typeface="Urbanist"/>
              <a:buChar char="➔"/>
            </a:pPr>
            <a:r>
              <a:rPr b="1"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Idea chiave</a:t>
            </a:r>
            <a:r>
              <a:rPr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sovrapporre temporalmente calcolo su archi locali (indipendente dalla comunicazione) con la ricezione asincrona del vettore pagerank aggiornato, necessario per elaborare gli archi remoti.</a:t>
            </a:r>
            <a:endParaRPr sz="2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6" name="Google Shape;35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286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5"/>
          <p:cNvSpPr txBox="1"/>
          <p:nvPr/>
        </p:nvSpPr>
        <p:spPr>
          <a:xfrm>
            <a:off x="571500" y="571500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MPI + OpenMP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asincrono</a:t>
            </a: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: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pre-processing</a:t>
            </a:r>
            <a:endParaRPr>
              <a:solidFill>
                <a:srgbClr val="DEFF9A"/>
              </a:solidFill>
            </a:endParaRPr>
          </a:p>
        </p:txBody>
      </p:sp>
      <p:pic>
        <p:nvPicPr>
          <p:cNvPr id="358" name="Google Shape;358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7432" y="2155301"/>
            <a:ext cx="5340242" cy="299219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5"/>
          <p:cNvSpPr txBox="1"/>
          <p:nvPr/>
        </p:nvSpPr>
        <p:spPr>
          <a:xfrm>
            <a:off x="510400" y="2543200"/>
            <a:ext cx="51357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Rispetto alla versione precedente si è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aggiunto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un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vettore di accumulo per i contributi locali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he verrà usato durante le iterazioni asincrone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↓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Overlap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calcolo locale e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comunicazioni dei valori remoti.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4" name="Google Shape;36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6"/>
          <p:cNvSpPr txBox="1"/>
          <p:nvPr/>
        </p:nvSpPr>
        <p:spPr>
          <a:xfrm>
            <a:off x="571500" y="571500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MPI + OpenMP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asincrono</a:t>
            </a: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: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pre-processing</a:t>
            </a:r>
            <a:endParaRPr>
              <a:solidFill>
                <a:srgbClr val="DEFF9A"/>
              </a:solidFill>
            </a:endParaRPr>
          </a:p>
        </p:txBody>
      </p:sp>
      <p:pic>
        <p:nvPicPr>
          <p:cNvPr id="366" name="Google Shape;36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465775"/>
            <a:ext cx="4694701" cy="484912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6"/>
          <p:cNvSpPr/>
          <p:nvPr/>
        </p:nvSpPr>
        <p:spPr>
          <a:xfrm>
            <a:off x="703050" y="3104000"/>
            <a:ext cx="4072500" cy="2148900"/>
          </a:xfrm>
          <a:prstGeom prst="rect">
            <a:avLst/>
          </a:prstGeom>
          <a:noFill/>
          <a:ln cap="flat" cmpd="sng" w="9525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46"/>
          <p:cNvSpPr/>
          <p:nvPr/>
        </p:nvSpPr>
        <p:spPr>
          <a:xfrm>
            <a:off x="703050" y="5475125"/>
            <a:ext cx="2414100" cy="560400"/>
          </a:xfrm>
          <a:prstGeom prst="rect">
            <a:avLst/>
          </a:prstGeom>
          <a:noFill/>
          <a:ln cap="flat" cmpd="sng" w="9525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6"/>
          <p:cNvSpPr txBox="1"/>
          <p:nvPr/>
        </p:nvSpPr>
        <p:spPr>
          <a:xfrm>
            <a:off x="5718125" y="2126850"/>
            <a:ext cx="6014700" cy="3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Conteggio parallelo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degli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archi locali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e dei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remoti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per ogni riga.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Conversione conteggi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 offset di inizio per ogni riga: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 questo modo riusciamo a sapere dove iniziano e dove finiscono gli archi di una riga all’interno degli array.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AFFDE"/>
              </a:buClr>
              <a:buSzPts val="1800"/>
              <a:buFont typeface="Urbanist"/>
              <a:buChar char="➔"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Fase di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predisposizione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alla creazione di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due strutture CSR minori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una per calcolo locale ed  una per il remoto.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4" name="Google Shape;37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7"/>
          <p:cNvSpPr txBox="1"/>
          <p:nvPr/>
        </p:nvSpPr>
        <p:spPr>
          <a:xfrm>
            <a:off x="571500" y="571500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MPI + OpenMP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asincrono</a:t>
            </a: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: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pre-processing</a:t>
            </a:r>
            <a:endParaRPr>
              <a:solidFill>
                <a:srgbClr val="DEFF9A"/>
              </a:solidFill>
            </a:endParaRPr>
          </a:p>
        </p:txBody>
      </p:sp>
      <p:pic>
        <p:nvPicPr>
          <p:cNvPr id="376" name="Google Shape;376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4300" y="2097675"/>
            <a:ext cx="6453827" cy="362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7"/>
          <p:cNvSpPr txBox="1"/>
          <p:nvPr/>
        </p:nvSpPr>
        <p:spPr>
          <a:xfrm>
            <a:off x="571500" y="2801263"/>
            <a:ext cx="42945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Popolamento parallelo</a:t>
            </a:r>
            <a:r>
              <a:rPr lang="en-US" sz="18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delle strutture local/remote ottenendo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due mini CSR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↓</a:t>
            </a:r>
            <a:endParaRPr b="1"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Ogni thread ripercorre le righe di propria competenze e smista gli archi in base alla destinazione.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2" name="Google Shape;38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8"/>
          <p:cNvSpPr txBox="1"/>
          <p:nvPr/>
        </p:nvSpPr>
        <p:spPr>
          <a:xfrm>
            <a:off x="571500" y="571500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MPI + OpenMP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asincrono</a:t>
            </a: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: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computazione</a:t>
            </a:r>
            <a:endParaRPr>
              <a:solidFill>
                <a:srgbClr val="DEFF9A"/>
              </a:solidFill>
            </a:endParaRPr>
          </a:p>
        </p:txBody>
      </p:sp>
      <p:pic>
        <p:nvPicPr>
          <p:cNvPr id="384" name="Google Shape;38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3800" y="2666313"/>
            <a:ext cx="5259851" cy="4000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6750" y="1421550"/>
            <a:ext cx="4218250" cy="5245523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8"/>
          <p:cNvSpPr/>
          <p:nvPr/>
        </p:nvSpPr>
        <p:spPr>
          <a:xfrm>
            <a:off x="1687200" y="4510200"/>
            <a:ext cx="4350900" cy="1551900"/>
          </a:xfrm>
          <a:prstGeom prst="rect">
            <a:avLst/>
          </a:prstGeom>
          <a:noFill/>
          <a:ln cap="flat" cmpd="sng" w="9525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8"/>
          <p:cNvSpPr/>
          <p:nvPr/>
        </p:nvSpPr>
        <p:spPr>
          <a:xfrm>
            <a:off x="7541000" y="2743650"/>
            <a:ext cx="3681300" cy="3522000"/>
          </a:xfrm>
          <a:prstGeom prst="rect">
            <a:avLst/>
          </a:prstGeom>
          <a:noFill/>
          <a:ln cap="flat" cmpd="sng" w="9525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8"/>
          <p:cNvSpPr txBox="1"/>
          <p:nvPr/>
        </p:nvSpPr>
        <p:spPr>
          <a:xfrm>
            <a:off x="571500" y="1281350"/>
            <a:ext cx="63099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Durante l’iterazione si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opera sulla porzione locale senza attendere la comunicazione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per poi passare immediatamente al calcolo remoto.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3" name="Google Shape;39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9"/>
          <p:cNvSpPr txBox="1"/>
          <p:nvPr/>
        </p:nvSpPr>
        <p:spPr>
          <a:xfrm>
            <a:off x="571500" y="571500"/>
            <a:ext cx="11601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MPI + OpenMP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asincrono</a:t>
            </a: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: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comunicazione</a:t>
            </a:r>
            <a:endParaRPr>
              <a:solidFill>
                <a:srgbClr val="DEFF9A"/>
              </a:solidFill>
            </a:endParaRPr>
          </a:p>
        </p:txBody>
      </p:sp>
      <p:pic>
        <p:nvPicPr>
          <p:cNvPr id="395" name="Google Shape;39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5600" y="1384575"/>
            <a:ext cx="4482450" cy="4941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9"/>
          <p:cNvSpPr/>
          <p:nvPr/>
        </p:nvSpPr>
        <p:spPr>
          <a:xfrm>
            <a:off x="7680440" y="3505320"/>
            <a:ext cx="3555000" cy="646500"/>
          </a:xfrm>
          <a:prstGeom prst="rect">
            <a:avLst/>
          </a:prstGeom>
          <a:noFill/>
          <a:ln cap="flat" cmpd="sng" w="9525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9"/>
          <p:cNvSpPr/>
          <p:nvPr/>
        </p:nvSpPr>
        <p:spPr>
          <a:xfrm>
            <a:off x="7481450" y="4788650"/>
            <a:ext cx="3342900" cy="915300"/>
          </a:xfrm>
          <a:prstGeom prst="rect">
            <a:avLst/>
          </a:prstGeom>
          <a:noFill/>
          <a:ln cap="flat" cmpd="sng" w="9525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9"/>
          <p:cNvSpPr txBox="1"/>
          <p:nvPr/>
        </p:nvSpPr>
        <p:spPr>
          <a:xfrm>
            <a:off x="446250" y="1384575"/>
            <a:ext cx="59451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Raccolta non bloccante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 place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delle porzioni remote del Pagerank: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mentre la rete trasmette, i thread del processo computano la parte locale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1800"/>
              <a:buFont typeface="Urbanist"/>
              <a:buChar char="➔"/>
            </a:pP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Fondamentale assicurarsi che </a:t>
            </a: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MPI_Iallgatherv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sia terminata prima di passare alla parte remota.</a:t>
            </a:r>
            <a:endParaRPr sz="18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99" name="Google Shape;399;p49"/>
          <p:cNvSpPr txBox="1"/>
          <p:nvPr/>
        </p:nvSpPr>
        <p:spPr>
          <a:xfrm>
            <a:off x="571500" y="4305425"/>
            <a:ext cx="6144000" cy="16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Osservazione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: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</a:t>
            </a:r>
            <a:r>
              <a:rPr b="1" lang="en-US" sz="11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un </a:t>
            </a:r>
            <a:r>
              <a:rPr lang="en-US" sz="18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large-scale graph</a:t>
            </a:r>
            <a:r>
              <a:rPr lang="en-US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il carico computazionale è tale da nascondere la latenza di comunicazione, evitando che i thread rimangano in attesa del completamento degli scambi di dati. </a:t>
            </a:r>
            <a:endParaRPr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4" name="Google Shape;40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0"/>
          <p:cNvSpPr txBox="1"/>
          <p:nvPr/>
        </p:nvSpPr>
        <p:spPr>
          <a:xfrm>
            <a:off x="571500" y="571500"/>
            <a:ext cx="10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Analisi delle comunicazioni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406" name="Google Shape;406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261821"/>
            <a:ext cx="10870799" cy="5079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1" name="Google Shape;41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1"/>
          <p:cNvSpPr txBox="1"/>
          <p:nvPr/>
        </p:nvSpPr>
        <p:spPr>
          <a:xfrm>
            <a:off x="571500" y="571500"/>
            <a:ext cx="10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Analisi Performance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graphicFrame>
        <p:nvGraphicFramePr>
          <p:cNvPr id="413" name="Google Shape;413;p51"/>
          <p:cNvGraphicFramePr/>
          <p:nvPr/>
        </p:nvGraphicFramePr>
        <p:xfrm>
          <a:off x="2393488" y="1294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{D103A096-27C8-43EC-AC49-53E414F85B7F}</a:tableStyleId>
              </a:tblPr>
              <a:tblGrid>
                <a:gridCol w="1093525"/>
                <a:gridCol w="585050"/>
                <a:gridCol w="585050"/>
                <a:gridCol w="585050"/>
                <a:gridCol w="585050"/>
                <a:gridCol w="1305525"/>
                <a:gridCol w="1251800"/>
                <a:gridCol w="12357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</a:rPr>
                        <a:t>Processori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chemeClr val="lt1"/>
                          </a:solidFill>
                        </a:rPr>
                        <a:t>Configurazioni (Proc./Thread)</a:t>
                      </a:r>
                      <a:endParaRPr b="1"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99999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Tempo (s)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Speedup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solidFill>
                            <a:srgbClr val="FFFFFF"/>
                          </a:solidFill>
                        </a:rPr>
                        <a:t>Efficienza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74EA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1/1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3,3685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6,0770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6,077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1/2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 2/1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2,6917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7,6050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3,802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1/4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 2/2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2,6741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7,6551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1,914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3/2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2/3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1,5267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13,4083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2,235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1/8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2/4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4/2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1,2206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16,7709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2,096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3/4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1,0191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20,0868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1,674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1/16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2/8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4/4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8/2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0,7894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25,9317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1,621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3/8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0,7136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28,6862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1,195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2/16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4/8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8</a:t>
                      </a:r>
                      <a:r>
                        <a:rPr b="1" lang="en-US" sz="1200"/>
                        <a:t>/4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16/2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0,5540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36,9504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1,155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48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16/3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8/6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3/16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0,4361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46,9399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0,978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60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6/10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 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0,4323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47,3525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0,789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4/16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8/8</a:t>
                      </a:r>
                      <a:endParaRPr b="1"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16/4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0,3846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53,2254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0,832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4A7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8" name="Google Shape;41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52" title="pr_hybrid_async_scatt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5600" y="1261825"/>
            <a:ext cx="9742592" cy="5061576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52"/>
          <p:cNvSpPr txBox="1"/>
          <p:nvPr/>
        </p:nvSpPr>
        <p:spPr>
          <a:xfrm>
            <a:off x="571500" y="571500"/>
            <a:ext cx="10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Analisi Performance: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Speedup 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5" name="Google Shape;42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53" title="pr_hybrid_async_efficienza_scatter.png"/>
          <p:cNvPicPr preferRelativeResize="0"/>
          <p:nvPr/>
        </p:nvPicPr>
        <p:blipFill rotWithShape="1">
          <a:blip r:embed="rId4">
            <a:alphaModFix/>
          </a:blip>
          <a:srcRect b="0" l="50" r="40" t="0"/>
          <a:stretch/>
        </p:blipFill>
        <p:spPr>
          <a:xfrm>
            <a:off x="1135600" y="1261825"/>
            <a:ext cx="9742592" cy="506157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53"/>
          <p:cNvSpPr txBox="1"/>
          <p:nvPr/>
        </p:nvSpPr>
        <p:spPr>
          <a:xfrm>
            <a:off x="571500" y="571500"/>
            <a:ext cx="10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Analisi Performance: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Efficienza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2" name="Google Shape;43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4"/>
          <p:cNvSpPr txBox="1"/>
          <p:nvPr/>
        </p:nvSpPr>
        <p:spPr>
          <a:xfrm>
            <a:off x="571500" y="571500"/>
            <a:ext cx="10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Analisi Performance: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Speedup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pic>
        <p:nvPicPr>
          <p:cNvPr id="434" name="Google Shape;434;p54" title="speedup_confronto_ibrido.png"/>
          <p:cNvPicPr preferRelativeResize="0"/>
          <p:nvPr/>
        </p:nvPicPr>
        <p:blipFill rotWithShape="1">
          <a:blip r:embed="rId4">
            <a:alphaModFix/>
          </a:blip>
          <a:srcRect b="50" l="0" r="0" t="50"/>
          <a:stretch/>
        </p:blipFill>
        <p:spPr>
          <a:xfrm>
            <a:off x="1006275" y="1300632"/>
            <a:ext cx="10179425" cy="504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9" name="Google Shape;43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55" title="efficienza_confronto_ibrido.png"/>
          <p:cNvPicPr preferRelativeResize="0"/>
          <p:nvPr/>
        </p:nvPicPr>
        <p:blipFill rotWithShape="1">
          <a:blip r:embed="rId4">
            <a:alphaModFix/>
          </a:blip>
          <a:srcRect b="50" l="0" r="0" t="50"/>
          <a:stretch/>
        </p:blipFill>
        <p:spPr>
          <a:xfrm>
            <a:off x="1006275" y="1289677"/>
            <a:ext cx="10179425" cy="5044976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55"/>
          <p:cNvSpPr txBox="1"/>
          <p:nvPr/>
        </p:nvSpPr>
        <p:spPr>
          <a:xfrm>
            <a:off x="571500" y="571500"/>
            <a:ext cx="10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Analisi Performance: </a:t>
            </a:r>
            <a:r>
              <a:rPr lang="en-US" sz="42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Efficienza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6" name="Google Shape;44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56"/>
          <p:cNvSpPr txBox="1"/>
          <p:nvPr/>
        </p:nvSpPr>
        <p:spPr>
          <a:xfrm>
            <a:off x="482700" y="1457250"/>
            <a:ext cx="11226600" cy="3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19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2100"/>
              <a:buFont typeface="Urbanist"/>
              <a:buChar char="➔"/>
            </a:pPr>
            <a:r>
              <a:rPr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Reali miglioramenti ottenuti introducendo il multithreading nel contesto MPI → ottimizzazione del bilanciamento MPI/OpenMPI è cruciale.</a:t>
            </a:r>
            <a:endParaRPr sz="210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19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2100"/>
              <a:buFont typeface="Urbanist"/>
              <a:buChar char="➔"/>
            </a:pPr>
            <a:r>
              <a:rPr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Netto miglioramente dello speedup nella </a:t>
            </a:r>
            <a:r>
              <a:rPr b="1"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versione ibrida</a:t>
            </a:r>
            <a:r>
              <a:rPr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, in particolar modo in quella </a:t>
            </a:r>
            <a:r>
              <a:rPr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asincrona</a:t>
            </a:r>
            <a:r>
              <a:rPr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→ mantiene elevati livelli di speedup ed efficienza, prossimi al limite teorico, anche all'aumentare del numero di processori.</a:t>
            </a:r>
            <a:endParaRPr sz="2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19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2100"/>
              <a:buFont typeface="Urbanist"/>
              <a:buChar char="➔"/>
            </a:pPr>
            <a:r>
              <a:rPr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Andamento superlineare</a:t>
            </a:r>
            <a:r>
              <a:rPr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attribuibile agli effetti della gerarchia di memoria e della cache, favoriti dalla politica di </a:t>
            </a:r>
            <a:r>
              <a:rPr b="1"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First Touch</a:t>
            </a:r>
            <a:r>
              <a:rPr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e dalla distinzione tra </a:t>
            </a:r>
            <a:r>
              <a:rPr b="1"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computazione locale/remota</a:t>
            </a:r>
            <a:r>
              <a:rPr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b="1" sz="2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619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EFF9A"/>
              </a:buClr>
              <a:buSzPts val="2100"/>
              <a:buFont typeface="Urbanist"/>
              <a:buChar char="➔"/>
            </a:pPr>
            <a:r>
              <a:rPr lang="en-US" sz="21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Dimensione del dataset fondamentale</a:t>
            </a:r>
            <a:r>
              <a:rPr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→  </a:t>
            </a:r>
            <a:r>
              <a:rPr b="1" lang="en-US" sz="2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minore dimensione ⇒ maggiore impatto della comunicazione rispetto al calcolo, con conseguente riduzione della scalabilità.</a:t>
            </a:r>
            <a:endParaRPr sz="2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8" name="Google Shape;448;p56"/>
          <p:cNvSpPr txBox="1"/>
          <p:nvPr/>
        </p:nvSpPr>
        <p:spPr>
          <a:xfrm>
            <a:off x="571500" y="571500"/>
            <a:ext cx="1087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Osservazioni Finali</a:t>
            </a:r>
            <a:endParaRPr sz="42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3" name="Google Shape;45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57"/>
          <p:cNvSpPr txBox="1"/>
          <p:nvPr/>
        </p:nvSpPr>
        <p:spPr>
          <a:xfrm>
            <a:off x="4140755" y="2282279"/>
            <a:ext cx="3910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Domande?</a:t>
            </a:r>
            <a:endParaRPr/>
          </a:p>
        </p:txBody>
      </p:sp>
      <p:sp>
        <p:nvSpPr>
          <p:cNvPr id="455" name="Google Shape;455;p57"/>
          <p:cNvSpPr txBox="1"/>
          <p:nvPr/>
        </p:nvSpPr>
        <p:spPr>
          <a:xfrm>
            <a:off x="4733925" y="3406229"/>
            <a:ext cx="2724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Grazie per l'attenzione.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DEFF9A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